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embeddedFontLs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vYgQ3uavyXIiCCrvSzEic4/Qt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enturyGothic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4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" type="body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5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5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5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15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7" name="Google Shape;37;p15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8" name="Google Shape;38;p15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9" name="Google Shape;39;p15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0" name="Google Shape;40;p15"/>
          <p:cNvSpPr txBox="1"/>
          <p:nvPr>
            <p:ph type="ctrTitle"/>
          </p:nvPr>
        </p:nvSpPr>
        <p:spPr>
          <a:xfrm>
            <a:off x="1171281" y="2091263"/>
            <a:ext cx="680144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200"/>
              <a:buFont typeface="Century Gothic"/>
              <a:buNone/>
              <a:defRPr b="0" sz="6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5"/>
          <p:cNvSpPr txBox="1"/>
          <p:nvPr>
            <p:ph idx="1" type="subTitle"/>
          </p:nvPr>
        </p:nvSpPr>
        <p:spPr>
          <a:xfrm>
            <a:off x="1171575" y="4682062"/>
            <a:ext cx="68031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3931920" y="1327188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1104936" y="5211060"/>
            <a:ext cx="4429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3F3F3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455190" y="5212080"/>
            <a:ext cx="1583911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rgbClr val="E1DBC9"/>
            </a:gs>
            <a:gs pos="77000">
              <a:srgbClr val="C8C1B0"/>
            </a:gs>
            <a:gs pos="100000">
              <a:srgbClr val="C0BAAA"/>
            </a:gs>
          </a:gsLst>
          <a:lin ang="5400000" scaled="0"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rotWithShape="1">
            <a:blip r:embed="rId2">
              <a:alphaModFix amt="45000"/>
            </a:blip>
            <a:tile algn="tl" flip="none" tx="-44450" sx="85000" ty="38100" sy="85000"/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6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ctr">
              <a:srgbClr val="000000">
                <a:alpha val="6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6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cap="sq" cmpd="sng" w="9525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6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16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51" name="Google Shape;51;p16"/>
            <p:cNvCxnSpPr/>
            <p:nvPr/>
          </p:nvCxnSpPr>
          <p:spPr>
            <a:xfrm>
              <a:off x="5318306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2" name="Google Shape;52;p16"/>
            <p:cNvCxnSpPr/>
            <p:nvPr/>
          </p:nvCxnSpPr>
          <p:spPr>
            <a:xfrm>
              <a:off x="6885637" y="1386268"/>
              <a:ext cx="0" cy="64008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53" name="Google Shape;53;p16"/>
            <p:cNvCxnSpPr/>
            <p:nvPr/>
          </p:nvCxnSpPr>
          <p:spPr>
            <a:xfrm>
              <a:off x="5318306" y="2031563"/>
              <a:ext cx="1567331" cy="0"/>
            </a:xfrm>
            <a:prstGeom prst="straightConnector1">
              <a:avLst/>
            </a:prstGeom>
            <a:solidFill>
              <a:srgbClr val="262626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54" name="Google Shape;54;p16"/>
          <p:cNvSpPr txBox="1"/>
          <p:nvPr>
            <p:ph type="title"/>
          </p:nvPr>
        </p:nvSpPr>
        <p:spPr>
          <a:xfrm>
            <a:off x="1172717" y="2094309"/>
            <a:ext cx="6803136" cy="2587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200"/>
              <a:buFont typeface="Century Gothic"/>
              <a:buNone/>
              <a:defRPr sz="62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1172718" y="4682062"/>
            <a:ext cx="680313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6" name="Google Shape;56;p16"/>
          <p:cNvSpPr txBox="1"/>
          <p:nvPr>
            <p:ph idx="10" type="dt"/>
          </p:nvPr>
        </p:nvSpPr>
        <p:spPr>
          <a:xfrm>
            <a:off x="3931920" y="1325880"/>
            <a:ext cx="1280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1" type="ftr"/>
          </p:nvPr>
        </p:nvSpPr>
        <p:spPr>
          <a:xfrm>
            <a:off x="1104679" y="5211060"/>
            <a:ext cx="44302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2" type="sldNum"/>
          </p:nvPr>
        </p:nvSpPr>
        <p:spPr>
          <a:xfrm>
            <a:off x="6453378" y="5211060"/>
            <a:ext cx="1584198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" type="body"/>
          </p:nvPr>
        </p:nvSpPr>
        <p:spPr>
          <a:xfrm>
            <a:off x="731520" y="2103120"/>
            <a:ext cx="36576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2" name="Google Shape;62;p17"/>
          <p:cNvSpPr txBox="1"/>
          <p:nvPr>
            <p:ph idx="2" type="body"/>
          </p:nvPr>
        </p:nvSpPr>
        <p:spPr>
          <a:xfrm>
            <a:off x="4754880" y="2103120"/>
            <a:ext cx="36576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63" name="Google Shape;63;p17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731520" y="2074334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731520" y="2755898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0" name="Google Shape;70;p18"/>
          <p:cNvSpPr txBox="1"/>
          <p:nvPr>
            <p:ph idx="3" type="body"/>
          </p:nvPr>
        </p:nvSpPr>
        <p:spPr>
          <a:xfrm>
            <a:off x="4754880" y="2074334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0" sz="19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1" name="Google Shape;71;p18"/>
          <p:cNvSpPr txBox="1"/>
          <p:nvPr>
            <p:ph idx="4" type="body"/>
          </p:nvPr>
        </p:nvSpPr>
        <p:spPr>
          <a:xfrm>
            <a:off x="4754880" y="2756581"/>
            <a:ext cx="3657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72" name="Google Shape;72;p18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1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6972300" y="607392"/>
            <a:ext cx="1823085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  <a:defRPr b="0" sz="2400" cap="non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668976" y="907143"/>
            <a:ext cx="5428856" cy="5043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 sz="1800"/>
            </a:lvl1pPr>
            <a:lvl2pPr indent="-3302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600"/>
              <a:buChar char="◦"/>
              <a:defRPr sz="1600"/>
            </a:lvl2pPr>
            <a:lvl3pPr indent="-3175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3pPr>
            <a:lvl4pPr indent="-3175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◦"/>
              <a:defRPr sz="1400"/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6972300" y="2286000"/>
            <a:ext cx="1823085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21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1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7795258" y="6310086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2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2"/>
          <p:cNvSpPr txBox="1"/>
          <p:nvPr>
            <p:ph type="title"/>
          </p:nvPr>
        </p:nvSpPr>
        <p:spPr>
          <a:xfrm>
            <a:off x="6972300" y="603504"/>
            <a:ext cx="1824228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Gothic"/>
              <a:buNone/>
              <a:defRPr b="0" sz="24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2"/>
          <p:cNvSpPr/>
          <p:nvPr>
            <p:ph idx="2" type="pic"/>
          </p:nvPr>
        </p:nvSpPr>
        <p:spPr>
          <a:xfrm>
            <a:off x="171449" y="173736"/>
            <a:ext cx="6398514" cy="6510528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98" name="Google Shape;98;p22"/>
          <p:cNvSpPr txBox="1"/>
          <p:nvPr>
            <p:ph idx="1" type="body"/>
          </p:nvPr>
        </p:nvSpPr>
        <p:spPr>
          <a:xfrm>
            <a:off x="6972300" y="2286000"/>
            <a:ext cx="1824228" cy="3502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99" name="Google Shape;99;p22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7797546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2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cap="sq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 rot="5400000">
            <a:off x="2606040" y="228600"/>
            <a:ext cx="3931920" cy="7680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4"/>
          <p:cNvSpPr txBox="1"/>
          <p:nvPr>
            <p:ph type="title"/>
          </p:nvPr>
        </p:nvSpPr>
        <p:spPr>
          <a:xfrm rot="5400000">
            <a:off x="5000625" y="2505075"/>
            <a:ext cx="5257800" cy="1771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4"/>
          <p:cNvSpPr txBox="1"/>
          <p:nvPr>
            <p:ph idx="1" type="body"/>
          </p:nvPr>
        </p:nvSpPr>
        <p:spPr>
          <a:xfrm rot="5400000">
            <a:off x="1028700" y="361950"/>
            <a:ext cx="5257800" cy="6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  <a:defRPr/>
            </a:lvl1pPr>
            <a:lvl2pPr indent="-3429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4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" name="Google Shape;7;p12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2"/>
          <p:cNvSpPr txBox="1"/>
          <p:nvPr>
            <p:ph idx="1" type="body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EFEFE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EFEFE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1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11"/>
          <p:cNvSpPr txBox="1"/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  <a:defRPr b="0" i="0" sz="4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Garamond"/>
              <a:buChar char="◦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Garamond"/>
              <a:buChar char="◦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Garamond"/>
              <a:buChar char="◦"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900" u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4.png"/><Relationship Id="rId7" Type="http://schemas.openxmlformats.org/officeDocument/2006/relationships/image" Target="../media/image26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5" Type="http://schemas.openxmlformats.org/officeDocument/2006/relationships/image" Target="../media/image5.png"/><Relationship Id="rId6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6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erson writing on a notepad" id="120" name="Google Shape;120;p1"/>
          <p:cNvPicPr preferRelativeResize="0"/>
          <p:nvPr/>
        </p:nvPicPr>
        <p:blipFill rotWithShape="1">
          <a:blip r:embed="rId3">
            <a:alphaModFix amt="35000"/>
          </a:blip>
          <a:srcRect b="2681" l="0" r="0" t="2681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 txBox="1"/>
          <p:nvPr>
            <p:ph type="title"/>
          </p:nvPr>
        </p:nvSpPr>
        <p:spPr>
          <a:xfrm>
            <a:off x="800100" y="656219"/>
            <a:ext cx="754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IT:U Humanitarian SOS SMS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 sz="2400"/>
              <a:t>Foundations and Methods Capstone Project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 sz="2400"/>
              <a:t>Bishoy Labib and Greta Toth</a:t>
            </a:r>
            <a:endParaRPr sz="2400"/>
          </a:p>
        </p:txBody>
      </p:sp>
      <p:sp>
        <p:nvSpPr>
          <p:cNvPr id="122" name="Google Shape;122;p1"/>
          <p:cNvSpPr txBox="1"/>
          <p:nvPr>
            <p:ph idx="1" type="body"/>
          </p:nvPr>
        </p:nvSpPr>
        <p:spPr>
          <a:xfrm>
            <a:off x="800100" y="2449795"/>
            <a:ext cx="7543800" cy="19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600"/>
              <a:t>Prototype SOS Alert Application</a:t>
            </a:r>
            <a:endParaRPr sz="1600"/>
          </a:p>
        </p:txBody>
      </p:sp>
      <p:sp>
        <p:nvSpPr>
          <p:cNvPr id="123" name="Google Shape;123;p1"/>
          <p:cNvSpPr/>
          <p:nvPr/>
        </p:nvSpPr>
        <p:spPr>
          <a:xfrm>
            <a:off x="176022" y="237744"/>
            <a:ext cx="8792100" cy="6382500"/>
          </a:xfrm>
          <a:prstGeom prst="rect">
            <a:avLst/>
          </a:prstGeom>
          <a:noFill/>
          <a:ln cap="sq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rgbClr val="5F50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Domino effect white cutouts and one blue cutout" id="130" name="Google Shape;130;p2"/>
          <p:cNvPicPr preferRelativeResize="0"/>
          <p:nvPr/>
        </p:nvPicPr>
        <p:blipFill rotWithShape="1">
          <a:blip r:embed="rId3">
            <a:alphaModFix amt="25000"/>
          </a:blip>
          <a:srcRect b="-1" l="11000" r="-1" t="0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"/>
          <p:cNvSpPr txBox="1"/>
          <p:nvPr>
            <p:ph type="title"/>
          </p:nvPr>
        </p:nvSpPr>
        <p:spPr>
          <a:xfrm>
            <a:off x="800100" y="642594"/>
            <a:ext cx="754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 sz="4000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Statement</a:t>
            </a:r>
            <a:endParaRPr/>
          </a:p>
        </p:txBody>
      </p:sp>
      <p:sp>
        <p:nvSpPr>
          <p:cNvPr id="132" name="Google Shape;132;p2"/>
          <p:cNvSpPr txBox="1"/>
          <p:nvPr>
            <p:ph idx="1" type="body"/>
          </p:nvPr>
        </p:nvSpPr>
        <p:spPr>
          <a:xfrm>
            <a:off x="800100" y="2103120"/>
            <a:ext cx="75438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In areas of natural disasters or human conflict, internet access and </a:t>
            </a:r>
            <a:r>
              <a:rPr lang="en-US"/>
              <a:t>smartphone</a:t>
            </a:r>
            <a:r>
              <a:rPr lang="en-US"/>
              <a:t> ownership is unlikely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People do have “dumb phones” and telephone network however 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◦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Need for fast communication in such crisis zones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Char char="◦"/>
            </a:pPr>
            <a:r>
              <a:rPr lang="en-US"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People require a safe method to report dangers or needs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176022" y="237744"/>
            <a:ext cx="8791956" cy="6382512"/>
          </a:xfrm>
          <a:prstGeom prst="rect">
            <a:avLst/>
          </a:prstGeom>
          <a:solidFill>
            <a:srgbClr val="5F50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Mobile device with apps" id="139" name="Google Shape;139;p3"/>
          <p:cNvPicPr preferRelativeResize="0"/>
          <p:nvPr/>
        </p:nvPicPr>
        <p:blipFill rotWithShape="1">
          <a:blip r:embed="rId3">
            <a:alphaModFix amt="25000"/>
          </a:blip>
          <a:srcRect b="0" l="25000" r="0" t="0"/>
          <a:stretch/>
        </p:blipFill>
        <p:spPr>
          <a:xfrm>
            <a:off x="20" y="10"/>
            <a:ext cx="9143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 txBox="1"/>
          <p:nvPr>
            <p:ph type="title"/>
          </p:nvPr>
        </p:nvSpPr>
        <p:spPr>
          <a:xfrm>
            <a:off x="800100" y="642594"/>
            <a:ext cx="754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Solution Overview</a:t>
            </a:r>
            <a:endParaRPr/>
          </a:p>
        </p:txBody>
      </p:sp>
      <p:sp>
        <p:nvSpPr>
          <p:cNvPr id="141" name="Google Shape;141;p3"/>
          <p:cNvSpPr txBox="1"/>
          <p:nvPr>
            <p:ph idx="1" type="body"/>
          </p:nvPr>
        </p:nvSpPr>
        <p:spPr>
          <a:xfrm>
            <a:off x="800100" y="2103120"/>
            <a:ext cx="754380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A Python-based app that allows users to submit anonymous SOS messages to a shared online feed accessible by civilians and authorities</a:t>
            </a:r>
            <a:endParaRPr/>
          </a:p>
          <a:p>
            <a:pPr indent="-182879" lvl="3" marL="10058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SMS to be sent to central phone number</a:t>
            </a:r>
            <a:endParaRPr/>
          </a:p>
          <a:p>
            <a:pPr indent="-182879" lvl="3" marL="10058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timestamped (and location stamped) messages appear in blockchain-like peer-to-peer feed</a:t>
            </a:r>
            <a:endParaRPr/>
          </a:p>
          <a:p>
            <a:pPr indent="-182879" lvl="3" marL="100583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users have 50 characters to explain dangers or needs in one message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A GUI interface for ease of use</a:t>
            </a:r>
            <a:endParaRPr/>
          </a:p>
          <a:p>
            <a:pPr indent="-182879" lvl="3" marL="1005839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mock interface </a:t>
            </a:r>
            <a:r>
              <a:rPr lang="en-US"/>
              <a:t>resembles</a:t>
            </a:r>
            <a:r>
              <a:rPr lang="en-US"/>
              <a:t> old Nokia devices</a:t>
            </a:r>
            <a:endParaRPr/>
          </a:p>
          <a:p>
            <a:pPr indent="-182880" lvl="0" marL="18288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800"/>
              <a:buChar char="◦"/>
            </a:pPr>
            <a:r>
              <a:rPr lang="en-US"/>
              <a:t>A python testing file to check functionality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8" name="Google Shape;148;p4"/>
          <p:cNvSpPr txBox="1"/>
          <p:nvPr>
            <p:ph type="title"/>
          </p:nvPr>
        </p:nvSpPr>
        <p:spPr>
          <a:xfrm>
            <a:off x="430056" y="559477"/>
            <a:ext cx="2823900" cy="57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/>
              <a:t>Key Features</a:t>
            </a:r>
            <a:endParaRPr/>
          </a:p>
        </p:txBody>
      </p:sp>
      <p:grpSp>
        <p:nvGrpSpPr>
          <p:cNvPr id="149" name="Google Shape;149;p4"/>
          <p:cNvGrpSpPr/>
          <p:nvPr/>
        </p:nvGrpSpPr>
        <p:grpSpPr>
          <a:xfrm>
            <a:off x="4108593" y="802639"/>
            <a:ext cx="4429635" cy="5227333"/>
            <a:chOff x="0" y="1692"/>
            <a:chExt cx="4429635" cy="5227333"/>
          </a:xfrm>
        </p:grpSpPr>
        <p:sp>
          <p:nvSpPr>
            <p:cNvPr id="150" name="Google Shape;150;p4"/>
            <p:cNvSpPr/>
            <p:nvPr/>
          </p:nvSpPr>
          <p:spPr>
            <a:xfrm>
              <a:off x="0" y="1692"/>
              <a:ext cx="4429635" cy="72101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4"/>
            <p:cNvSpPr/>
            <p:nvPr/>
          </p:nvSpPr>
          <p:spPr>
            <a:xfrm>
              <a:off x="218105" y="163919"/>
              <a:ext cx="396556" cy="396556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4"/>
            <p:cNvSpPr/>
            <p:nvPr/>
          </p:nvSpPr>
          <p:spPr>
            <a:xfrm>
              <a:off x="832768" y="1692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4"/>
            <p:cNvSpPr txBox="1"/>
            <p:nvPr/>
          </p:nvSpPr>
          <p:spPr>
            <a:xfrm>
              <a:off x="832768" y="1692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00" lIns="76300" spcFirstLastPara="1" rIns="76300" wrap="square" tIns="7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Anonymous SOS submission</a:t>
              </a:r>
              <a:endParaRPr/>
            </a:p>
          </p:txBody>
        </p:sp>
        <p:sp>
          <p:nvSpPr>
            <p:cNvPr id="154" name="Google Shape;154;p4"/>
            <p:cNvSpPr/>
            <p:nvPr/>
          </p:nvSpPr>
          <p:spPr>
            <a:xfrm>
              <a:off x="0" y="902956"/>
              <a:ext cx="4429635" cy="72101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4"/>
            <p:cNvSpPr/>
            <p:nvPr/>
          </p:nvSpPr>
          <p:spPr>
            <a:xfrm>
              <a:off x="218105" y="1065184"/>
              <a:ext cx="396556" cy="39655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/>
            <p:nvPr/>
          </p:nvSpPr>
          <p:spPr>
            <a:xfrm>
              <a:off x="832768" y="902956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832768" y="902956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00" lIns="76300" spcFirstLastPara="1" rIns="76300" wrap="square" tIns="7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Shared feed</a:t>
              </a:r>
              <a:endParaRPr/>
            </a:p>
          </p:txBody>
        </p:sp>
        <p:sp>
          <p:nvSpPr>
            <p:cNvPr id="158" name="Google Shape;158;p4"/>
            <p:cNvSpPr/>
            <p:nvPr/>
          </p:nvSpPr>
          <p:spPr>
            <a:xfrm>
              <a:off x="0" y="1804220"/>
              <a:ext cx="4429635" cy="72101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/>
            <p:nvPr/>
          </p:nvSpPr>
          <p:spPr>
            <a:xfrm>
              <a:off x="218105" y="1966448"/>
              <a:ext cx="396556" cy="39655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4"/>
            <p:cNvSpPr/>
            <p:nvPr/>
          </p:nvSpPr>
          <p:spPr>
            <a:xfrm>
              <a:off x="832768" y="1804220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4"/>
            <p:cNvSpPr txBox="1"/>
            <p:nvPr/>
          </p:nvSpPr>
          <p:spPr>
            <a:xfrm>
              <a:off x="832768" y="1804220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00" lIns="76300" spcFirstLastPara="1" rIns="76300" wrap="square" tIns="7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Timestamped messages</a:t>
              </a:r>
              <a:endParaRPr/>
            </a:p>
          </p:txBody>
        </p:sp>
        <p:sp>
          <p:nvSpPr>
            <p:cNvPr id="162" name="Google Shape;162;p4"/>
            <p:cNvSpPr/>
            <p:nvPr/>
          </p:nvSpPr>
          <p:spPr>
            <a:xfrm>
              <a:off x="0" y="2705485"/>
              <a:ext cx="4429635" cy="72101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4"/>
            <p:cNvSpPr/>
            <p:nvPr/>
          </p:nvSpPr>
          <p:spPr>
            <a:xfrm>
              <a:off x="218105" y="2867713"/>
              <a:ext cx="396556" cy="39655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4"/>
            <p:cNvSpPr/>
            <p:nvPr/>
          </p:nvSpPr>
          <p:spPr>
            <a:xfrm>
              <a:off x="832768" y="2705485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832768" y="2705485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00" lIns="76300" spcFirstLastPara="1" rIns="76300" wrap="square" tIns="7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Coordinates for </a:t>
              </a: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aid workers</a:t>
              </a: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or authorities</a:t>
              </a:r>
              <a:endParaRPr sz="19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4"/>
            <p:cNvSpPr/>
            <p:nvPr/>
          </p:nvSpPr>
          <p:spPr>
            <a:xfrm>
              <a:off x="0" y="3606749"/>
              <a:ext cx="4429635" cy="72101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4"/>
            <p:cNvSpPr/>
            <p:nvPr/>
          </p:nvSpPr>
          <p:spPr>
            <a:xfrm>
              <a:off x="218105" y="3768977"/>
              <a:ext cx="396556" cy="39655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/>
            <p:nvPr/>
          </p:nvSpPr>
          <p:spPr>
            <a:xfrm>
              <a:off x="832768" y="3606749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832768" y="3606749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00" lIns="76300" spcFirstLastPara="1" rIns="76300" wrap="square" tIns="7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Simple </a:t>
              </a: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GUI</a:t>
              </a: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using Tkinter and a custom-made background graphic</a:t>
              </a:r>
              <a:endParaRPr/>
            </a:p>
          </p:txBody>
        </p:sp>
        <p:sp>
          <p:nvSpPr>
            <p:cNvPr id="170" name="Google Shape;170;p4"/>
            <p:cNvSpPr/>
            <p:nvPr/>
          </p:nvSpPr>
          <p:spPr>
            <a:xfrm>
              <a:off x="0" y="4508014"/>
              <a:ext cx="4429635" cy="721011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/>
            <p:nvPr/>
          </p:nvSpPr>
          <p:spPr>
            <a:xfrm>
              <a:off x="218105" y="4670241"/>
              <a:ext cx="396556" cy="39655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832768" y="4508014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4"/>
            <p:cNvSpPr txBox="1"/>
            <p:nvPr/>
          </p:nvSpPr>
          <p:spPr>
            <a:xfrm>
              <a:off x="832768" y="4508014"/>
              <a:ext cx="3596866" cy="7210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300" lIns="76300" spcFirstLastPara="1" rIns="76300" wrap="square" tIns="76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JSON-based local storage (for now)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0" name="Google Shape;180;p5"/>
          <p:cNvSpPr txBox="1"/>
          <p:nvPr>
            <p:ph type="title"/>
          </p:nvPr>
        </p:nvSpPr>
        <p:spPr>
          <a:xfrm>
            <a:off x="430056" y="559477"/>
            <a:ext cx="2823900" cy="57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It Works</a:t>
            </a:r>
            <a:endParaRPr/>
          </a:p>
        </p:txBody>
      </p:sp>
      <p:grpSp>
        <p:nvGrpSpPr>
          <p:cNvPr id="181" name="Google Shape;181;p5"/>
          <p:cNvGrpSpPr/>
          <p:nvPr/>
        </p:nvGrpSpPr>
        <p:grpSpPr>
          <a:xfrm>
            <a:off x="4108593" y="803117"/>
            <a:ext cx="4429635" cy="5226376"/>
            <a:chOff x="0" y="2170"/>
            <a:chExt cx="4429635" cy="5226376"/>
          </a:xfrm>
        </p:grpSpPr>
        <p:sp>
          <p:nvSpPr>
            <p:cNvPr id="182" name="Google Shape;182;p5"/>
            <p:cNvSpPr/>
            <p:nvPr/>
          </p:nvSpPr>
          <p:spPr>
            <a:xfrm>
              <a:off x="0" y="2170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5"/>
            <p:cNvSpPr/>
            <p:nvPr/>
          </p:nvSpPr>
          <p:spPr>
            <a:xfrm>
              <a:off x="332837" y="249736"/>
              <a:ext cx="605159" cy="60515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1270834" y="2170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1270834" y="2170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Users press “+” to submit SOS</a:t>
              </a:r>
              <a:endParaRPr/>
            </a:p>
          </p:txBody>
        </p:sp>
        <p:sp>
          <p:nvSpPr>
            <p:cNvPr id="186" name="Google Shape;186;p5"/>
            <p:cNvSpPr/>
            <p:nvPr/>
          </p:nvSpPr>
          <p:spPr>
            <a:xfrm>
              <a:off x="0" y="1377533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5"/>
            <p:cNvSpPr/>
            <p:nvPr/>
          </p:nvSpPr>
          <p:spPr>
            <a:xfrm>
              <a:off x="332837" y="1625098"/>
              <a:ext cx="605159" cy="605159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1270834" y="1377533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5"/>
            <p:cNvSpPr txBox="1"/>
            <p:nvPr/>
          </p:nvSpPr>
          <p:spPr>
            <a:xfrm>
              <a:off x="1270834" y="1377533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 character limit (50)</a:t>
              </a:r>
              <a:endParaRPr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0" name="Google Shape;190;p5"/>
            <p:cNvSpPr/>
            <p:nvPr/>
          </p:nvSpPr>
          <p:spPr>
            <a:xfrm>
              <a:off x="0" y="2752895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332837" y="3000460"/>
              <a:ext cx="605159" cy="60515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5"/>
            <p:cNvSpPr/>
            <p:nvPr/>
          </p:nvSpPr>
          <p:spPr>
            <a:xfrm>
              <a:off x="1270834" y="2752895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5"/>
            <p:cNvSpPr txBox="1"/>
            <p:nvPr/>
          </p:nvSpPr>
          <p:spPr>
            <a:xfrm>
              <a:off x="1270834" y="2752895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Messages sent to database</a:t>
              </a:r>
              <a:endParaRPr/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0" y="4128257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5"/>
            <p:cNvSpPr/>
            <p:nvPr/>
          </p:nvSpPr>
          <p:spPr>
            <a:xfrm>
              <a:off x="332837" y="4375822"/>
              <a:ext cx="605159" cy="60515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5"/>
            <p:cNvSpPr/>
            <p:nvPr/>
          </p:nvSpPr>
          <p:spPr>
            <a:xfrm>
              <a:off x="1270834" y="4128257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1270834" y="4128257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Displayed in timeline-style feed, most recent at top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"/>
          <p:cNvSpPr/>
          <p:nvPr/>
        </p:nvSpPr>
        <p:spPr>
          <a:xfrm>
            <a:off x="4572000" y="172779"/>
            <a:ext cx="4385733" cy="6507421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3" name="Google Shape;203;p6"/>
          <p:cNvSpPr txBox="1"/>
          <p:nvPr>
            <p:ph type="title"/>
          </p:nvPr>
        </p:nvSpPr>
        <p:spPr>
          <a:xfrm>
            <a:off x="653346" y="559477"/>
            <a:ext cx="2823900" cy="57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/>
              <a:t>How It Works</a:t>
            </a:r>
            <a:br>
              <a:rPr lang="en-US"/>
            </a:br>
            <a:r>
              <a:rPr lang="en-US" sz="3600"/>
              <a:t>(Flowchart)</a:t>
            </a:r>
            <a:endParaRPr/>
          </a:p>
        </p:txBody>
      </p:sp>
      <p:pic>
        <p:nvPicPr>
          <p:cNvPr descr="A diagram of a software flowchart&#10;&#10;AI-generated content may be incorrect." id="204" name="Google Shape;2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5885" y="1000125"/>
            <a:ext cx="2981325" cy="485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108700" y="415349"/>
            <a:ext cx="4429500" cy="934680"/>
          </a:xfrm>
          <a:prstGeom prst="roundRect">
            <a:avLst>
              <a:gd fmla="val 10000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441537" y="3002706"/>
            <a:ext cx="605100" cy="5139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5379534" y="415349"/>
            <a:ext cx="3158700" cy="93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6425" lIns="116425" spcFirstLastPara="1" rIns="116425" wrap="square" tIns="116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entury Gothic"/>
              <a:buNone/>
            </a:pPr>
            <a:r>
              <a:rPr lang="en-US" sz="2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sophisticated telecommunication infrastructure </a:t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176022" y="237744"/>
            <a:ext cx="3314699" cy="6382512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p7"/>
          <p:cNvSpPr txBox="1"/>
          <p:nvPr>
            <p:ph type="title"/>
          </p:nvPr>
        </p:nvSpPr>
        <p:spPr>
          <a:xfrm>
            <a:off x="430056" y="559477"/>
            <a:ext cx="2823900" cy="5709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Current Limitations</a:t>
            </a:r>
            <a:endParaRPr/>
          </a:p>
        </p:txBody>
      </p:sp>
      <p:grpSp>
        <p:nvGrpSpPr>
          <p:cNvPr id="215" name="Google Shape;215;p7"/>
          <p:cNvGrpSpPr/>
          <p:nvPr/>
        </p:nvGrpSpPr>
        <p:grpSpPr>
          <a:xfrm>
            <a:off x="4108600" y="632289"/>
            <a:ext cx="4429635" cy="5397169"/>
            <a:chOff x="0" y="-1125550"/>
            <a:chExt cx="4429635" cy="6354096"/>
          </a:xfrm>
        </p:grpSpPr>
        <p:sp>
          <p:nvSpPr>
            <p:cNvPr id="216" name="Google Shape;216;p7"/>
            <p:cNvSpPr/>
            <p:nvPr/>
          </p:nvSpPr>
          <p:spPr>
            <a:xfrm>
              <a:off x="0" y="2170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332837" y="249736"/>
              <a:ext cx="605159" cy="605159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1270834" y="2170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 txBox="1"/>
            <p:nvPr/>
          </p:nvSpPr>
          <p:spPr>
            <a:xfrm>
              <a:off x="1270834" y="2170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Local-only feed (no real-time sync)</a:t>
              </a:r>
              <a:endParaRPr/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0" y="1377533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332862" y="-1125550"/>
              <a:ext cx="605100" cy="6051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1270834" y="1377533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1270834" y="1377533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Placeholder GPS coordinates</a:t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0" y="2752895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>
              <a:off x="332837" y="3000460"/>
              <a:ext cx="605159" cy="605159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1270834" y="2752895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 txBox="1"/>
            <p:nvPr/>
          </p:nvSpPr>
          <p:spPr>
            <a:xfrm>
              <a:off x="1270834" y="2752895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Basic UI</a:t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0" y="4128257"/>
              <a:ext cx="4429635" cy="1100289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332837" y="4375822"/>
              <a:ext cx="605159" cy="605159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1270834" y="4128257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1270834" y="4128257"/>
              <a:ext cx="3158800" cy="1100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6425" lIns="116425" spcFirstLastPara="1" rIns="116425" wrap="square" tIns="116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Century Gothic"/>
                <a:buNone/>
              </a:pPr>
              <a:r>
                <a:rPr lang="en-US" sz="22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No encryption for privacy</a:t>
              </a:r>
              <a:endParaRPr/>
            </a:p>
          </p:txBody>
        </p:sp>
      </p:grpSp>
      <p:sp>
        <p:nvSpPr>
          <p:cNvPr id="232" name="Google Shape;232;p7"/>
          <p:cNvSpPr/>
          <p:nvPr/>
        </p:nvSpPr>
        <p:spPr>
          <a:xfrm>
            <a:off x="4364736" y="2918747"/>
            <a:ext cx="681900" cy="681900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/>
          <p:nvPr>
            <p:ph type="title"/>
          </p:nvPr>
        </p:nvSpPr>
        <p:spPr>
          <a:xfrm>
            <a:off x="800100" y="642594"/>
            <a:ext cx="754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Technology Stack</a:t>
            </a:r>
            <a:endParaRPr/>
          </a:p>
        </p:txBody>
      </p:sp>
      <p:grpSp>
        <p:nvGrpSpPr>
          <p:cNvPr id="238" name="Google Shape;238;p8"/>
          <p:cNvGrpSpPr/>
          <p:nvPr/>
        </p:nvGrpSpPr>
        <p:grpSpPr>
          <a:xfrm>
            <a:off x="489039" y="3366598"/>
            <a:ext cx="6180750" cy="2066400"/>
            <a:chOff x="3150" y="602806"/>
            <a:chExt cx="7537500" cy="2520000"/>
          </a:xfrm>
        </p:grpSpPr>
        <p:sp>
          <p:nvSpPr>
            <p:cNvPr id="239" name="Google Shape;239;p8"/>
            <p:cNvSpPr/>
            <p:nvPr/>
          </p:nvSpPr>
          <p:spPr>
            <a:xfrm>
              <a:off x="441900" y="602806"/>
              <a:ext cx="1372500" cy="1372500"/>
            </a:xfrm>
            <a:prstGeom prst="ellipse">
              <a:avLst/>
            </a:prstGeom>
            <a:solidFill>
              <a:srgbClr val="2383C6"/>
            </a:solid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734400" y="895306"/>
              <a:ext cx="787500" cy="7875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8"/>
            <p:cNvSpPr/>
            <p:nvPr/>
          </p:nvSpPr>
          <p:spPr>
            <a:xfrm>
              <a:off x="315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8"/>
            <p:cNvSpPr txBox="1"/>
            <p:nvPr/>
          </p:nvSpPr>
          <p:spPr>
            <a:xfrm>
              <a:off x="315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50"/>
                <a:buFont typeface="Century Gothic"/>
                <a:buNone/>
              </a:pPr>
              <a:r>
                <a:rPr lang="en-US" sz="2049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PYTHON 3.X</a:t>
              </a:r>
              <a:endParaRPr sz="1147"/>
            </a:p>
          </p:txBody>
        </p:sp>
        <p:sp>
          <p:nvSpPr>
            <p:cNvPr id="243" name="Google Shape;243;p8"/>
            <p:cNvSpPr/>
            <p:nvPr/>
          </p:nvSpPr>
          <p:spPr>
            <a:xfrm>
              <a:off x="3085650" y="602806"/>
              <a:ext cx="1372500" cy="1372500"/>
            </a:xfrm>
            <a:prstGeom prst="ellipse">
              <a:avLst/>
            </a:prstGeom>
            <a:solidFill>
              <a:srgbClr val="24CED7"/>
            </a:solid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8"/>
            <p:cNvSpPr/>
            <p:nvPr/>
          </p:nvSpPr>
          <p:spPr>
            <a:xfrm>
              <a:off x="3378150" y="895306"/>
              <a:ext cx="787500" cy="7875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8"/>
            <p:cNvSpPr/>
            <p:nvPr/>
          </p:nvSpPr>
          <p:spPr>
            <a:xfrm>
              <a:off x="264690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8"/>
            <p:cNvSpPr txBox="1"/>
            <p:nvPr/>
          </p:nvSpPr>
          <p:spPr>
            <a:xfrm>
              <a:off x="264690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50"/>
                <a:buFont typeface="Century Gothic"/>
                <a:buNone/>
              </a:pPr>
              <a:r>
                <a:rPr lang="en-US" sz="2049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TKINTER GUI</a:t>
              </a:r>
              <a:endParaRPr sz="1147"/>
            </a:p>
          </p:txBody>
        </p:sp>
        <p:sp>
          <p:nvSpPr>
            <p:cNvPr id="247" name="Google Shape;247;p8"/>
            <p:cNvSpPr/>
            <p:nvPr/>
          </p:nvSpPr>
          <p:spPr>
            <a:xfrm>
              <a:off x="5729400" y="602806"/>
              <a:ext cx="1372500" cy="1372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8"/>
            <p:cNvSpPr/>
            <p:nvPr/>
          </p:nvSpPr>
          <p:spPr>
            <a:xfrm>
              <a:off x="6021900" y="895306"/>
              <a:ext cx="787500" cy="78750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8"/>
            <p:cNvSpPr/>
            <p:nvPr/>
          </p:nvSpPr>
          <p:spPr>
            <a:xfrm>
              <a:off x="529065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8"/>
            <p:cNvSpPr txBox="1"/>
            <p:nvPr/>
          </p:nvSpPr>
          <p:spPr>
            <a:xfrm>
              <a:off x="529065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50"/>
                <a:buFont typeface="Century Gothic"/>
                <a:buNone/>
              </a:pPr>
              <a:r>
                <a:rPr lang="en-US" sz="2049" cap="non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JSON FILE STORAGE</a:t>
              </a:r>
              <a:endParaRPr sz="1147"/>
            </a:p>
          </p:txBody>
        </p:sp>
      </p:grpSp>
      <p:grpSp>
        <p:nvGrpSpPr>
          <p:cNvPr id="251" name="Google Shape;251;p8"/>
          <p:cNvGrpSpPr/>
          <p:nvPr/>
        </p:nvGrpSpPr>
        <p:grpSpPr>
          <a:xfrm>
            <a:off x="6821464" y="3366598"/>
            <a:ext cx="1845000" cy="2066400"/>
            <a:chOff x="5290650" y="602806"/>
            <a:chExt cx="2250000" cy="2520000"/>
          </a:xfrm>
        </p:grpSpPr>
        <p:sp>
          <p:nvSpPr>
            <p:cNvPr id="252" name="Google Shape;252;p8"/>
            <p:cNvSpPr/>
            <p:nvPr/>
          </p:nvSpPr>
          <p:spPr>
            <a:xfrm>
              <a:off x="5729400" y="602806"/>
              <a:ext cx="1372500" cy="1372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74975" lIns="74975" spcFirstLastPara="1" rIns="74975" wrap="square" tIns="74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8"/>
            <p:cNvSpPr txBox="1"/>
            <p:nvPr/>
          </p:nvSpPr>
          <p:spPr>
            <a:xfrm>
              <a:off x="5290650" y="2402806"/>
              <a:ext cx="225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50"/>
                <a:buFont typeface="Century Gothic"/>
                <a:buNone/>
              </a:pPr>
              <a:r>
                <a:rPr lang="en-US" sz="2049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FIGMA</a:t>
              </a:r>
              <a:endParaRPr sz="1147"/>
            </a:p>
          </p:txBody>
        </p:sp>
      </p:grpSp>
      <p:sp>
        <p:nvSpPr>
          <p:cNvPr id="254" name="Google Shape;254;p8"/>
          <p:cNvSpPr/>
          <p:nvPr/>
        </p:nvSpPr>
        <p:spPr>
          <a:xfrm>
            <a:off x="7307325" y="3489099"/>
            <a:ext cx="873300" cy="873300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"/>
          <p:cNvSpPr txBox="1"/>
          <p:nvPr>
            <p:ph type="title"/>
          </p:nvPr>
        </p:nvSpPr>
        <p:spPr>
          <a:xfrm>
            <a:off x="800100" y="642594"/>
            <a:ext cx="7543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 sz="4000" cap="non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Future Improvements</a:t>
            </a:r>
            <a:endParaRPr/>
          </a:p>
        </p:txBody>
      </p:sp>
      <p:grpSp>
        <p:nvGrpSpPr>
          <p:cNvPr id="260" name="Google Shape;260;p9"/>
          <p:cNvGrpSpPr/>
          <p:nvPr/>
        </p:nvGrpSpPr>
        <p:grpSpPr>
          <a:xfrm>
            <a:off x="800100" y="2312973"/>
            <a:ext cx="7543800" cy="3719791"/>
            <a:chOff x="0" y="2910"/>
            <a:chExt cx="7543800" cy="3719791"/>
          </a:xfrm>
        </p:grpSpPr>
        <p:sp>
          <p:nvSpPr>
            <p:cNvPr id="261" name="Google Shape;261;p9"/>
            <p:cNvSpPr/>
            <p:nvPr/>
          </p:nvSpPr>
          <p:spPr>
            <a:xfrm>
              <a:off x="0" y="2910"/>
              <a:ext cx="7543800" cy="61996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187539" y="142402"/>
              <a:ext cx="340980" cy="34098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716059" y="2910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9"/>
            <p:cNvSpPr txBox="1"/>
            <p:nvPr/>
          </p:nvSpPr>
          <p:spPr>
            <a:xfrm>
              <a:off x="716059" y="2910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600" lIns="65600" spcFirstLastPara="1" rIns="65600" wrap="square" tIns="65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Add real geolocation</a:t>
              </a:r>
              <a:endParaRPr/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0" y="777867"/>
              <a:ext cx="7543800" cy="61996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187539" y="917359"/>
              <a:ext cx="340980" cy="34098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716059" y="777867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9"/>
            <p:cNvSpPr txBox="1"/>
            <p:nvPr/>
          </p:nvSpPr>
          <p:spPr>
            <a:xfrm>
              <a:off x="716059" y="777867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600" lIns="65600" spcFirstLastPara="1" rIns="65600" wrap="square" tIns="65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Cloud backend + API</a:t>
              </a:r>
              <a:endParaRPr/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0" y="1552823"/>
              <a:ext cx="7543800" cy="61996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187539" y="1692315"/>
              <a:ext cx="340980" cy="34098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16059" y="1552823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9"/>
            <p:cNvSpPr txBox="1"/>
            <p:nvPr/>
          </p:nvSpPr>
          <p:spPr>
            <a:xfrm>
              <a:off x="716059" y="1552823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600" lIns="65600" spcFirstLastPara="1" rIns="65600" wrap="square" tIns="65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Send Messages through SMS</a:t>
              </a:r>
              <a:endParaRPr/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0" y="2327779"/>
              <a:ext cx="7543800" cy="61996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187539" y="2467271"/>
              <a:ext cx="340980" cy="34098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716059" y="2327779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9"/>
            <p:cNvSpPr txBox="1"/>
            <p:nvPr/>
          </p:nvSpPr>
          <p:spPr>
            <a:xfrm>
              <a:off x="716059" y="2327779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600" lIns="65600" spcFirstLastPara="1" rIns="65600" wrap="square" tIns="65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Encryption &amp; privacy features</a:t>
              </a:r>
              <a:endParaRPr/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0" y="3102736"/>
              <a:ext cx="7543800" cy="619965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187539" y="3242228"/>
              <a:ext cx="340980" cy="340980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9"/>
            <p:cNvSpPr/>
            <p:nvPr/>
          </p:nvSpPr>
          <p:spPr>
            <a:xfrm>
              <a:off x="716059" y="3102736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9"/>
            <p:cNvSpPr txBox="1"/>
            <p:nvPr/>
          </p:nvSpPr>
          <p:spPr>
            <a:xfrm>
              <a:off x="716059" y="3102736"/>
              <a:ext cx="6827740" cy="6199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5600" lIns="65600" spcFirstLastPara="1" rIns="65600" wrap="square" tIns="65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entury Gothic"/>
                <a:buNone/>
              </a:pPr>
              <a:r>
                <a:rPr lang="en-US" sz="19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Improved UX/UI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"/>
          <p:cNvSpPr txBox="1"/>
          <p:nvPr>
            <p:ph type="title"/>
          </p:nvPr>
        </p:nvSpPr>
        <p:spPr>
          <a:xfrm>
            <a:off x="731520" y="1793683"/>
            <a:ext cx="76809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000"/>
              <a:buFont typeface="Century Gothic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286" name="Google Shape;286;p10"/>
          <p:cNvSpPr txBox="1"/>
          <p:nvPr>
            <p:ph idx="1" type="body"/>
          </p:nvPr>
        </p:nvSpPr>
        <p:spPr>
          <a:xfrm>
            <a:off x="731520" y="3254209"/>
            <a:ext cx="7680960" cy="7586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Greta &amp; Bishoy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avon">
  <a:themeElements>
    <a:clrScheme name="Savon">
      <a:dk1>
        <a:srgbClr val="000000"/>
      </a:dk1>
      <a:lt1>
        <a:srgbClr val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